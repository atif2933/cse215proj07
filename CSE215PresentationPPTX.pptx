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Lexen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6ae33fc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6ae33fc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6ae33fc2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6ae33fc2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6ae33fc2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6ae33fc2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6a3dca1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6a3dca1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6a3dca17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6a3dca17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ae33fc2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6ae33fc2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310527"/>
            <a:ext cx="8222100" cy="1242000"/>
          </a:xfrm>
          <a:prstGeom prst="rect">
            <a:avLst/>
          </a:prstGeom>
          <a:effectLst>
            <a:outerShdw blurRad="57150" rotWithShape="0" algn="bl" dir="5400000" dist="19050">
              <a:srgbClr val="000000">
                <a:alpha val="82000"/>
              </a:srgbClr>
            </a:outerShdw>
          </a:effectLst>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Lexend"/>
                <a:ea typeface="Lexend"/>
                <a:cs typeface="Lexend"/>
                <a:sym typeface="Lexend"/>
              </a:rPr>
              <a:t>Welcome to our project demonstration</a:t>
            </a:r>
            <a:endParaRPr>
              <a:latin typeface="Lexend"/>
              <a:ea typeface="Lexend"/>
              <a:cs typeface="Lexend"/>
              <a:sym typeface="Lexend"/>
            </a:endParaRPr>
          </a:p>
        </p:txBody>
      </p:sp>
      <p:sp>
        <p:nvSpPr>
          <p:cNvPr id="86" name="Google Shape;86;p13"/>
          <p:cNvSpPr txBox="1"/>
          <p:nvPr>
            <p:ph idx="1" type="subTitle"/>
          </p:nvPr>
        </p:nvSpPr>
        <p:spPr>
          <a:xfrm>
            <a:off x="598100" y="1759648"/>
            <a:ext cx="8222100" cy="31212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361950" lvl="0" marL="457200" rtl="0" algn="l">
              <a:spcBef>
                <a:spcPts val="0"/>
              </a:spcBef>
              <a:spcAft>
                <a:spcPts val="0"/>
              </a:spcAft>
              <a:buSzPts val="2100"/>
              <a:buFont typeface="Lexend"/>
              <a:buChar char="❏"/>
            </a:pPr>
            <a:r>
              <a:rPr lang="en">
                <a:latin typeface="Lexend"/>
                <a:ea typeface="Lexend"/>
                <a:cs typeface="Lexend"/>
                <a:sym typeface="Lexend"/>
              </a:rPr>
              <a:t>Project Title- Vehicle Maintenance Log.</a:t>
            </a:r>
            <a:endParaRPr>
              <a:latin typeface="Lexend"/>
              <a:ea typeface="Lexend"/>
              <a:cs typeface="Lexend"/>
              <a:sym typeface="Lexend"/>
            </a:endParaRPr>
          </a:p>
          <a:p>
            <a:pPr indent="-361950" lvl="0" marL="457200" rtl="0" algn="l">
              <a:spcBef>
                <a:spcPts val="0"/>
              </a:spcBef>
              <a:spcAft>
                <a:spcPts val="0"/>
              </a:spcAft>
              <a:buSzPts val="2100"/>
              <a:buFont typeface="Lexend"/>
              <a:buChar char="❏"/>
            </a:pPr>
            <a:r>
              <a:rPr lang="en">
                <a:latin typeface="Lexend"/>
                <a:ea typeface="Lexend"/>
                <a:cs typeface="Lexend"/>
                <a:sym typeface="Lexend"/>
              </a:rPr>
              <a:t>Demonstrators- </a:t>
            </a:r>
            <a:endParaRPr>
              <a:latin typeface="Lexend"/>
              <a:ea typeface="Lexend"/>
              <a:cs typeface="Lexend"/>
              <a:sym typeface="Lexend"/>
            </a:endParaRPr>
          </a:p>
          <a:p>
            <a:pPr indent="0" lvl="0" marL="457200" rtl="0" algn="l">
              <a:spcBef>
                <a:spcPts val="0"/>
              </a:spcBef>
              <a:spcAft>
                <a:spcPts val="0"/>
              </a:spcAft>
              <a:buNone/>
            </a:pPr>
            <a:r>
              <a:t/>
            </a:r>
            <a:endParaRPr>
              <a:latin typeface="Lexend"/>
              <a:ea typeface="Lexend"/>
              <a:cs typeface="Lexend"/>
              <a:sym typeface="Lexend"/>
            </a:endParaRPr>
          </a:p>
          <a:p>
            <a:pPr indent="-361950" lvl="5" marL="2743200" rtl="0" algn="l">
              <a:spcBef>
                <a:spcPts val="0"/>
              </a:spcBef>
              <a:spcAft>
                <a:spcPts val="0"/>
              </a:spcAft>
              <a:buSzPts val="2100"/>
              <a:buFont typeface="Lexend"/>
              <a:buChar char="❏"/>
            </a:pPr>
            <a:r>
              <a:rPr lang="en">
                <a:latin typeface="Lexend"/>
                <a:ea typeface="Lexend"/>
                <a:cs typeface="Lexend"/>
                <a:sym typeface="Lexend"/>
              </a:rPr>
              <a:t>Atif-Ul-Quadir- 2533574042</a:t>
            </a:r>
            <a:endParaRPr>
              <a:latin typeface="Lexend"/>
              <a:ea typeface="Lexend"/>
              <a:cs typeface="Lexend"/>
              <a:sym typeface="Lexend"/>
            </a:endParaRPr>
          </a:p>
          <a:p>
            <a:pPr indent="0" lvl="0" marL="2743200" rtl="0" algn="l">
              <a:spcBef>
                <a:spcPts val="0"/>
              </a:spcBef>
              <a:spcAft>
                <a:spcPts val="0"/>
              </a:spcAft>
              <a:buNone/>
            </a:pPr>
            <a:r>
              <a:t/>
            </a:r>
            <a:endParaRPr>
              <a:latin typeface="Lexend"/>
              <a:ea typeface="Lexend"/>
              <a:cs typeface="Lexend"/>
              <a:sym typeface="Lexend"/>
            </a:endParaRPr>
          </a:p>
          <a:p>
            <a:pPr indent="-361950" lvl="5" marL="2743200" rtl="0" algn="l">
              <a:spcBef>
                <a:spcPts val="0"/>
              </a:spcBef>
              <a:spcAft>
                <a:spcPts val="0"/>
              </a:spcAft>
              <a:buSzPts val="2100"/>
              <a:buFont typeface="Lexend"/>
              <a:buChar char="❏"/>
            </a:pPr>
            <a:r>
              <a:rPr lang="en">
                <a:latin typeface="Lexend"/>
                <a:ea typeface="Lexend"/>
                <a:cs typeface="Lexend"/>
                <a:sym typeface="Lexend"/>
              </a:rPr>
              <a:t>Amman Latif Opy- 2411360042</a:t>
            </a:r>
            <a:endParaRPr>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a:effectLst>
            <a:outerShdw blurRad="57150" rotWithShape="0" algn="bl" dir="5400000" dist="19050">
              <a:srgbClr val="000000">
                <a:alpha val="89000"/>
              </a:srgbClr>
            </a:outerShdw>
          </a:effectLst>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latin typeface="Lexend"/>
                <a:ea typeface="Lexend"/>
                <a:cs typeface="Lexend"/>
                <a:sym typeface="Lexend"/>
              </a:rPr>
              <a:t>Objectives of this project</a:t>
            </a:r>
            <a:endParaRPr>
              <a:solidFill>
                <a:schemeClr val="lt1"/>
              </a:solidFill>
              <a:latin typeface="Lexend"/>
              <a:ea typeface="Lexend"/>
              <a:cs typeface="Lexend"/>
              <a:sym typeface="Lexend"/>
            </a:endParaRPr>
          </a:p>
        </p:txBody>
      </p:sp>
      <p:sp>
        <p:nvSpPr>
          <p:cNvPr id="92" name="Google Shape;92;p14"/>
          <p:cNvSpPr txBox="1"/>
          <p:nvPr>
            <p:ph idx="1" type="body"/>
          </p:nvPr>
        </p:nvSpPr>
        <p:spPr>
          <a:xfrm>
            <a:off x="311700" y="1229875"/>
            <a:ext cx="8520600" cy="33390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exend"/>
              <a:buAutoNum type="arabicPeriod"/>
            </a:pPr>
            <a:r>
              <a:rPr lang="en">
                <a:solidFill>
                  <a:schemeClr val="lt1"/>
                </a:solidFill>
                <a:latin typeface="Lexend"/>
                <a:ea typeface="Lexend"/>
                <a:cs typeface="Lexend"/>
                <a:sym typeface="Lexend"/>
              </a:rPr>
              <a:t>To create an easy to use vehicle service logger which will keep track of when was the last time the mileage or odometer reading was updated, the last time the registration of car was renewed.</a:t>
            </a:r>
            <a:endParaRPr>
              <a:solidFill>
                <a:schemeClr val="lt1"/>
              </a:solidFill>
              <a:latin typeface="Lexend"/>
              <a:ea typeface="Lexend"/>
              <a:cs typeface="Lexend"/>
              <a:sym typeface="Lexend"/>
            </a:endParaRPr>
          </a:p>
          <a:p>
            <a:pPr indent="-342900" lvl="0" marL="457200" rtl="0" algn="l">
              <a:spcBef>
                <a:spcPts val="0"/>
              </a:spcBef>
              <a:spcAft>
                <a:spcPts val="0"/>
              </a:spcAft>
              <a:buClr>
                <a:schemeClr val="lt1"/>
              </a:buClr>
              <a:buSzPts val="1800"/>
              <a:buFont typeface="Lexend"/>
              <a:buAutoNum type="arabicPeriod"/>
            </a:pPr>
            <a:r>
              <a:rPr lang="en">
                <a:solidFill>
                  <a:schemeClr val="lt1"/>
                </a:solidFill>
                <a:latin typeface="Lexend"/>
                <a:ea typeface="Lexend"/>
                <a:cs typeface="Lexend"/>
                <a:sym typeface="Lexend"/>
              </a:rPr>
              <a:t>To let the users know if their Engine Oil, Brake Fluid, Transmission Fluid and Tires are needed to be changed by comparing the current odometer reading of the car to last updated odometer reading. This program also checks individually if any of the tasks are due to be done or not. Additionally allows us to renew the registration for a year if it’s due.</a:t>
            </a:r>
            <a:endParaRPr>
              <a:solidFill>
                <a:schemeClr val="lt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8" name="Google Shape;98;p15"/>
          <p:cNvSpPr txBox="1"/>
          <p:nvPr>
            <p:ph idx="1" type="body"/>
          </p:nvPr>
        </p:nvSpPr>
        <p:spPr>
          <a:xfrm>
            <a:off x="311700" y="410000"/>
            <a:ext cx="8520600" cy="4158900"/>
          </a:xfrm>
          <a:prstGeom prst="rect">
            <a:avLst/>
          </a:prstGeom>
          <a:effectLst>
            <a:outerShdw blurRad="57150" rotWithShape="0" algn="bl" dir="5400000" dist="19050">
              <a:srgbClr val="000000">
                <a:alpha val="69000"/>
              </a:srgbClr>
            </a:outerShdw>
          </a:effectLst>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Lexend"/>
              <a:buChar char="●"/>
            </a:pPr>
            <a:r>
              <a:rPr lang="en">
                <a:solidFill>
                  <a:schemeClr val="lt1"/>
                </a:solidFill>
                <a:latin typeface="Lexend"/>
                <a:ea typeface="Lexend"/>
                <a:cs typeface="Lexend"/>
                <a:sym typeface="Lexend"/>
              </a:rPr>
              <a:t>To demonstrate how the fundamentals of Object-Oriented Programming (OOP) can be implemented in various ways which are-</a:t>
            </a:r>
            <a:endParaRPr>
              <a:solidFill>
                <a:schemeClr val="lt1"/>
              </a:solidFill>
              <a:latin typeface="Lexend"/>
              <a:ea typeface="Lexend"/>
              <a:cs typeface="Lexend"/>
              <a:sym typeface="Lexend"/>
            </a:endParaRPr>
          </a:p>
          <a:p>
            <a:pPr indent="0" lvl="0" marL="457200" rtl="0" algn="l">
              <a:spcBef>
                <a:spcPts val="1200"/>
              </a:spcBef>
              <a:spcAft>
                <a:spcPts val="0"/>
              </a:spcAft>
              <a:buNone/>
            </a:pPr>
            <a:r>
              <a:t/>
            </a:r>
            <a:endParaRPr>
              <a:solidFill>
                <a:schemeClr val="lt1"/>
              </a:solidFill>
              <a:latin typeface="Lexend"/>
              <a:ea typeface="Lexend"/>
              <a:cs typeface="Lexend"/>
              <a:sym typeface="Lexend"/>
            </a:endParaRPr>
          </a:p>
          <a:p>
            <a:pPr indent="-342900" lvl="2" marL="1371600" rtl="0" algn="just">
              <a:spcBef>
                <a:spcPts val="1200"/>
              </a:spcBef>
              <a:spcAft>
                <a:spcPts val="0"/>
              </a:spcAft>
              <a:buClr>
                <a:schemeClr val="lt1"/>
              </a:buClr>
              <a:buSzPts val="1800"/>
              <a:buFont typeface="Lexend"/>
              <a:buChar char="■"/>
            </a:pPr>
            <a:r>
              <a:rPr lang="en" sz="1800">
                <a:solidFill>
                  <a:schemeClr val="lt1"/>
                </a:solidFill>
                <a:latin typeface="Lexend"/>
                <a:ea typeface="Lexend"/>
                <a:cs typeface="Lexend"/>
                <a:sym typeface="Lexend"/>
              </a:rPr>
              <a:t>Encapsulation</a:t>
            </a:r>
            <a:endParaRPr sz="1800">
              <a:solidFill>
                <a:schemeClr val="lt1"/>
              </a:solidFill>
              <a:latin typeface="Lexend"/>
              <a:ea typeface="Lexend"/>
              <a:cs typeface="Lexend"/>
              <a:sym typeface="Lexend"/>
            </a:endParaRPr>
          </a:p>
          <a:p>
            <a:pPr indent="-342900" lvl="2" marL="1371600" rtl="0" algn="just">
              <a:spcBef>
                <a:spcPts val="0"/>
              </a:spcBef>
              <a:spcAft>
                <a:spcPts val="0"/>
              </a:spcAft>
              <a:buClr>
                <a:schemeClr val="lt1"/>
              </a:buClr>
              <a:buSzPts val="1800"/>
              <a:buFont typeface="Lexend"/>
              <a:buChar char="■"/>
            </a:pPr>
            <a:r>
              <a:rPr lang="en" sz="1800">
                <a:solidFill>
                  <a:schemeClr val="lt1"/>
                </a:solidFill>
                <a:latin typeface="Lexend"/>
                <a:ea typeface="Lexend"/>
                <a:cs typeface="Lexend"/>
                <a:sym typeface="Lexend"/>
              </a:rPr>
              <a:t>Inheritance</a:t>
            </a:r>
            <a:endParaRPr sz="1800">
              <a:solidFill>
                <a:schemeClr val="lt1"/>
              </a:solidFill>
              <a:latin typeface="Lexend"/>
              <a:ea typeface="Lexend"/>
              <a:cs typeface="Lexend"/>
              <a:sym typeface="Lexend"/>
            </a:endParaRPr>
          </a:p>
          <a:p>
            <a:pPr indent="-342900" lvl="2" marL="1371600" rtl="0" algn="just">
              <a:spcBef>
                <a:spcPts val="0"/>
              </a:spcBef>
              <a:spcAft>
                <a:spcPts val="0"/>
              </a:spcAft>
              <a:buClr>
                <a:schemeClr val="lt1"/>
              </a:buClr>
              <a:buSzPts val="1800"/>
              <a:buFont typeface="Lexend"/>
              <a:buChar char="■"/>
            </a:pPr>
            <a:r>
              <a:rPr lang="en" sz="1800">
                <a:solidFill>
                  <a:schemeClr val="lt1"/>
                </a:solidFill>
                <a:latin typeface="Lexend"/>
                <a:ea typeface="Lexend"/>
                <a:cs typeface="Lexend"/>
                <a:sym typeface="Lexend"/>
              </a:rPr>
              <a:t>Abstraction</a:t>
            </a:r>
            <a:endParaRPr sz="1800">
              <a:solidFill>
                <a:schemeClr val="lt1"/>
              </a:solidFill>
              <a:latin typeface="Lexend"/>
              <a:ea typeface="Lexend"/>
              <a:cs typeface="Lexend"/>
              <a:sym typeface="Lexend"/>
            </a:endParaRPr>
          </a:p>
          <a:p>
            <a:pPr indent="-342900" lvl="2" marL="1371600" rtl="0" algn="just">
              <a:spcBef>
                <a:spcPts val="0"/>
              </a:spcBef>
              <a:spcAft>
                <a:spcPts val="0"/>
              </a:spcAft>
              <a:buClr>
                <a:schemeClr val="lt1"/>
              </a:buClr>
              <a:buSzPts val="1800"/>
              <a:buFont typeface="Lexend"/>
              <a:buChar char="■"/>
            </a:pPr>
            <a:r>
              <a:rPr lang="en" sz="1800">
                <a:solidFill>
                  <a:schemeClr val="lt1"/>
                </a:solidFill>
                <a:latin typeface="Lexend"/>
                <a:ea typeface="Lexend"/>
                <a:cs typeface="Lexend"/>
                <a:sym typeface="Lexend"/>
              </a:rPr>
              <a:t>Polymorphism</a:t>
            </a:r>
            <a:endParaRPr sz="1800">
              <a:solidFill>
                <a:schemeClr val="lt1"/>
              </a:solidFill>
              <a:latin typeface="Lexend"/>
              <a:ea typeface="Lexend"/>
              <a:cs typeface="Lexend"/>
              <a:sym typeface="Lexend"/>
            </a:endParaRPr>
          </a:p>
          <a:p>
            <a:pPr indent="0" lvl="0" marL="0" rtl="0" algn="l">
              <a:spcBef>
                <a:spcPts val="1200"/>
              </a:spcBef>
              <a:spcAft>
                <a:spcPts val="1200"/>
              </a:spcAft>
              <a:buNone/>
            </a:pPr>
            <a:r>
              <a:t/>
            </a:r>
            <a:endParaRPr>
              <a:solidFill>
                <a:schemeClr val="lt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5" name="Google Shape;105;p16"/>
          <p:cNvPicPr preferRelativeResize="0"/>
          <p:nvPr/>
        </p:nvPicPr>
        <p:blipFill>
          <a:blip r:embed="rId3">
            <a:alphaModFix/>
          </a:blip>
          <a:stretch>
            <a:fillRect/>
          </a:stretch>
        </p:blipFill>
        <p:spPr>
          <a:xfrm>
            <a:off x="178050" y="1261950"/>
            <a:ext cx="3142125" cy="1341650"/>
          </a:xfrm>
          <a:prstGeom prst="rect">
            <a:avLst/>
          </a:prstGeom>
          <a:noFill/>
          <a:ln>
            <a:noFill/>
          </a:ln>
        </p:spPr>
      </p:pic>
      <p:pic>
        <p:nvPicPr>
          <p:cNvPr id="106" name="Google Shape;106;p16"/>
          <p:cNvPicPr preferRelativeResize="0"/>
          <p:nvPr/>
        </p:nvPicPr>
        <p:blipFill>
          <a:blip r:embed="rId4">
            <a:alphaModFix/>
          </a:blip>
          <a:stretch>
            <a:fillRect/>
          </a:stretch>
        </p:blipFill>
        <p:spPr>
          <a:xfrm>
            <a:off x="5686100" y="732525"/>
            <a:ext cx="2849550" cy="1016800"/>
          </a:xfrm>
          <a:prstGeom prst="rect">
            <a:avLst/>
          </a:prstGeom>
          <a:noFill/>
          <a:ln>
            <a:noFill/>
          </a:ln>
        </p:spPr>
      </p:pic>
      <p:pic>
        <p:nvPicPr>
          <p:cNvPr id="107" name="Google Shape;107;p16"/>
          <p:cNvPicPr preferRelativeResize="0"/>
          <p:nvPr/>
        </p:nvPicPr>
        <p:blipFill>
          <a:blip r:embed="rId5">
            <a:alphaModFix/>
          </a:blip>
          <a:stretch>
            <a:fillRect/>
          </a:stretch>
        </p:blipFill>
        <p:spPr>
          <a:xfrm>
            <a:off x="5486950" y="2510412"/>
            <a:ext cx="3080549" cy="1168075"/>
          </a:xfrm>
          <a:prstGeom prst="rect">
            <a:avLst/>
          </a:prstGeom>
          <a:noFill/>
          <a:ln>
            <a:noFill/>
          </a:ln>
        </p:spPr>
      </p:pic>
      <p:pic>
        <p:nvPicPr>
          <p:cNvPr id="108" name="Google Shape;108;p16"/>
          <p:cNvPicPr preferRelativeResize="0"/>
          <p:nvPr/>
        </p:nvPicPr>
        <p:blipFill rotWithShape="1">
          <a:blip r:embed="rId6">
            <a:alphaModFix/>
          </a:blip>
          <a:srcRect b="0" l="0" r="0" t="0"/>
          <a:stretch/>
        </p:blipFill>
        <p:spPr>
          <a:xfrm>
            <a:off x="167200" y="3155350"/>
            <a:ext cx="3499401" cy="1470600"/>
          </a:xfrm>
          <a:prstGeom prst="rect">
            <a:avLst/>
          </a:prstGeom>
          <a:noFill/>
          <a:ln>
            <a:noFill/>
          </a:ln>
        </p:spPr>
      </p:pic>
      <p:cxnSp>
        <p:nvCxnSpPr>
          <p:cNvPr id="109" name="Google Shape;109;p16"/>
          <p:cNvCxnSpPr>
            <a:endCxn id="106" idx="1"/>
          </p:cNvCxnSpPr>
          <p:nvPr/>
        </p:nvCxnSpPr>
        <p:spPr>
          <a:xfrm flipH="1" rot="10800000">
            <a:off x="3344000" y="1240925"/>
            <a:ext cx="2342100" cy="804900"/>
          </a:xfrm>
          <a:prstGeom prst="straightConnector1">
            <a:avLst/>
          </a:prstGeom>
          <a:noFill/>
          <a:ln cap="flat" cmpd="sng" w="9525">
            <a:solidFill>
              <a:schemeClr val="lt1"/>
            </a:solidFill>
            <a:prstDash val="solid"/>
            <a:round/>
            <a:headEnd len="med" w="med" type="none"/>
            <a:tailEnd len="med" w="med" type="triangle"/>
          </a:ln>
        </p:spPr>
      </p:cxnSp>
      <p:cxnSp>
        <p:nvCxnSpPr>
          <p:cNvPr id="110" name="Google Shape;110;p16"/>
          <p:cNvCxnSpPr>
            <a:endCxn id="107" idx="0"/>
          </p:cNvCxnSpPr>
          <p:nvPr/>
        </p:nvCxnSpPr>
        <p:spPr>
          <a:xfrm>
            <a:off x="7027225" y="1623012"/>
            <a:ext cx="0" cy="887400"/>
          </a:xfrm>
          <a:prstGeom prst="straightConnector1">
            <a:avLst/>
          </a:prstGeom>
          <a:noFill/>
          <a:ln cap="flat" cmpd="sng" w="9525">
            <a:solidFill>
              <a:schemeClr val="lt1"/>
            </a:solidFill>
            <a:prstDash val="solid"/>
            <a:round/>
            <a:headEnd len="med" w="med" type="none"/>
            <a:tailEnd len="med" w="med" type="triangle"/>
          </a:ln>
        </p:spPr>
      </p:cxnSp>
      <p:cxnSp>
        <p:nvCxnSpPr>
          <p:cNvPr id="111" name="Google Shape;111;p16"/>
          <p:cNvCxnSpPr>
            <a:endCxn id="108" idx="3"/>
          </p:cNvCxnSpPr>
          <p:nvPr/>
        </p:nvCxnSpPr>
        <p:spPr>
          <a:xfrm flipH="1">
            <a:off x="3666601" y="2900050"/>
            <a:ext cx="1922700" cy="990600"/>
          </a:xfrm>
          <a:prstGeom prst="straightConnector1">
            <a:avLst/>
          </a:prstGeom>
          <a:noFill/>
          <a:ln cap="flat" cmpd="sng" w="9525">
            <a:solidFill>
              <a:schemeClr val="lt1"/>
            </a:solidFill>
            <a:prstDash val="solid"/>
            <a:round/>
            <a:headEnd len="med" w="med" type="none"/>
            <a:tailEnd len="med" w="med" type="triangle"/>
          </a:ln>
        </p:spPr>
      </p:cxnSp>
      <p:sp>
        <p:nvSpPr>
          <p:cNvPr id="112" name="Google Shape;112;p16"/>
          <p:cNvSpPr txBox="1"/>
          <p:nvPr/>
        </p:nvSpPr>
        <p:spPr>
          <a:xfrm>
            <a:off x="268163" y="732525"/>
            <a:ext cx="2961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Lexend"/>
                <a:ea typeface="Lexend"/>
                <a:cs typeface="Lexend"/>
                <a:sym typeface="Lexend"/>
              </a:rPr>
              <a:t>Main screen</a:t>
            </a:r>
            <a:endParaRPr sz="1800">
              <a:solidFill>
                <a:schemeClr val="lt1"/>
              </a:solidFill>
              <a:latin typeface="Lexend"/>
              <a:ea typeface="Lexend"/>
              <a:cs typeface="Lexend"/>
              <a:sym typeface="Lexend"/>
            </a:endParaRPr>
          </a:p>
        </p:txBody>
      </p:sp>
      <p:sp>
        <p:nvSpPr>
          <p:cNvPr id="113" name="Google Shape;113;p16"/>
          <p:cNvSpPr txBox="1"/>
          <p:nvPr/>
        </p:nvSpPr>
        <p:spPr>
          <a:xfrm>
            <a:off x="6106900" y="63700"/>
            <a:ext cx="2269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Lexend"/>
                <a:ea typeface="Lexend"/>
                <a:cs typeface="Lexend"/>
                <a:sym typeface="Lexend"/>
              </a:rPr>
              <a:t>Checks odometer reading</a:t>
            </a:r>
            <a:endParaRPr sz="1800">
              <a:solidFill>
                <a:schemeClr val="lt1"/>
              </a:solidFill>
              <a:latin typeface="Lexend"/>
              <a:ea typeface="Lexend"/>
              <a:cs typeface="Lexend"/>
              <a:sym typeface="Lexend"/>
            </a:endParaRPr>
          </a:p>
        </p:txBody>
      </p:sp>
      <p:sp>
        <p:nvSpPr>
          <p:cNvPr id="114" name="Google Shape;114;p16"/>
          <p:cNvSpPr txBox="1"/>
          <p:nvPr/>
        </p:nvSpPr>
        <p:spPr>
          <a:xfrm>
            <a:off x="4853725" y="3582850"/>
            <a:ext cx="391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exend"/>
                <a:ea typeface="Lexend"/>
                <a:cs typeface="Lexend"/>
                <a:sym typeface="Lexend"/>
              </a:rPr>
              <a:t>Calls isDue() and checks every m1[],m2[] element </a:t>
            </a:r>
            <a:endParaRPr>
              <a:solidFill>
                <a:schemeClr val="lt1"/>
              </a:solidFill>
              <a:latin typeface="Lexend"/>
              <a:ea typeface="Lexend"/>
              <a:cs typeface="Lexend"/>
              <a:sym typeface="Lexend"/>
            </a:endParaRPr>
          </a:p>
        </p:txBody>
      </p:sp>
      <p:sp>
        <p:nvSpPr>
          <p:cNvPr id="115" name="Google Shape;115;p16"/>
          <p:cNvSpPr txBox="1"/>
          <p:nvPr/>
        </p:nvSpPr>
        <p:spPr>
          <a:xfrm>
            <a:off x="167200" y="2606875"/>
            <a:ext cx="3715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exend"/>
                <a:ea typeface="Lexend"/>
                <a:cs typeface="Lexend"/>
                <a:sym typeface="Lexend"/>
              </a:rPr>
              <a:t>If isDue() is true then it lets us update by calling resetCount() for every m1[], m2[]</a:t>
            </a:r>
            <a:endParaRPr sz="1300">
              <a:solidFill>
                <a:schemeClr val="lt1"/>
              </a:solidFill>
              <a:latin typeface="Lexend"/>
              <a:ea typeface="Lexend"/>
              <a:cs typeface="Lexend"/>
              <a:sym typeface="Lexend"/>
            </a:endParaRPr>
          </a:p>
        </p:txBody>
      </p:sp>
    </p:spTree>
  </p:cSld>
  <p:clrMapOvr>
    <a:masterClrMapping/>
  </p:clrMapOvr>
  <mc:AlternateContent>
    <mc:Choice Requires="p14">
      <p:transition spd="slow" p14:dur="1800">
        <p:fade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9" name="Shape 119"/>
        <p:cNvGrpSpPr/>
        <p:nvPr/>
      </p:nvGrpSpPr>
      <p:grpSpPr>
        <a:xfrm>
          <a:off x="0" y="0"/>
          <a:ext cx="0" cy="0"/>
          <a:chOff x="0" y="0"/>
          <a:chExt cx="0" cy="0"/>
        </a:xfrm>
      </p:grpSpPr>
      <p:sp>
        <p:nvSpPr>
          <p:cNvPr id="120" name="Google Shape;120;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17"/>
          <p:cNvPicPr preferRelativeResize="0"/>
          <p:nvPr/>
        </p:nvPicPr>
        <p:blipFill>
          <a:blip r:embed="rId3">
            <a:alphaModFix/>
          </a:blip>
          <a:stretch>
            <a:fillRect/>
          </a:stretch>
        </p:blipFill>
        <p:spPr>
          <a:xfrm>
            <a:off x="311700" y="234450"/>
            <a:ext cx="4289600" cy="1787325"/>
          </a:xfrm>
          <a:prstGeom prst="rect">
            <a:avLst/>
          </a:prstGeom>
          <a:noFill/>
          <a:ln>
            <a:noFill/>
          </a:ln>
        </p:spPr>
      </p:pic>
      <p:pic>
        <p:nvPicPr>
          <p:cNvPr id="123" name="Google Shape;123;p17"/>
          <p:cNvPicPr preferRelativeResize="0"/>
          <p:nvPr/>
        </p:nvPicPr>
        <p:blipFill>
          <a:blip r:embed="rId4">
            <a:alphaModFix/>
          </a:blip>
          <a:stretch>
            <a:fillRect/>
          </a:stretch>
        </p:blipFill>
        <p:spPr>
          <a:xfrm>
            <a:off x="311697" y="2408496"/>
            <a:ext cx="4289600" cy="1794101"/>
          </a:xfrm>
          <a:prstGeom prst="rect">
            <a:avLst/>
          </a:prstGeom>
          <a:noFill/>
          <a:ln>
            <a:noFill/>
          </a:ln>
        </p:spPr>
      </p:pic>
      <p:sp>
        <p:nvSpPr>
          <p:cNvPr id="124" name="Google Shape;124;p17"/>
          <p:cNvSpPr txBox="1"/>
          <p:nvPr/>
        </p:nvSpPr>
        <p:spPr>
          <a:xfrm>
            <a:off x="4686250" y="234450"/>
            <a:ext cx="4289700" cy="2955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Lexend"/>
                <a:ea typeface="Lexend"/>
                <a:cs typeface="Lexend"/>
                <a:sym typeface="Lexend"/>
              </a:rPr>
              <a:t>Same goes for registration check, calls isDue() in TimeTask to check every m1[], m2[] if true then returns this pop-up. If we click yes then it invokes resetCounter for m1[4] and m2[4]. To update both LastUpdatedOdometerReading and Registration Date, we have used table.setValueAt() because we could not use File I/O in this project.</a:t>
            </a:r>
            <a:endParaRPr sz="1800">
              <a:solidFill>
                <a:schemeClr val="lt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txBox="1"/>
          <p:nvPr>
            <p:ph type="ctrTitle"/>
          </p:nvPr>
        </p:nvSpPr>
        <p:spPr>
          <a:xfrm>
            <a:off x="598100" y="1775222"/>
            <a:ext cx="8222100" cy="838800"/>
          </a:xfrm>
          <a:prstGeom prst="rect">
            <a:avLst/>
          </a:prstGeom>
          <a:effectLst>
            <a:outerShdw blurRad="57150" rotWithShape="0" algn="bl" dir="5400000" dist="19050">
              <a:srgbClr val="000000">
                <a:alpha val="89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 sz="5000">
                <a:latin typeface="Lexend"/>
                <a:ea typeface="Lexend"/>
                <a:cs typeface="Lexend"/>
                <a:sym typeface="Lexend"/>
              </a:rPr>
              <a:t>Thank you!</a:t>
            </a:r>
            <a:endParaRPr sz="5000">
              <a:latin typeface="Lexend"/>
              <a:ea typeface="Lexend"/>
              <a:cs typeface="Lexend"/>
              <a:sym typeface="Lexend"/>
            </a:endParaRPr>
          </a:p>
        </p:txBody>
      </p:sp>
      <p:sp>
        <p:nvSpPr>
          <p:cNvPr id="130" name="Google Shape;130;p18"/>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